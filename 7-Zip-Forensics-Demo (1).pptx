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embeddedFontLst>
    <p:embeddedFont>
      <p:font typeface="Baskervville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</p:embeddedFont>
    <p:embeddedFont>
      <p:font typeface="Poppins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501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90885"/>
            <a:ext cx="2882900" cy="2394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6805" y="269825"/>
            <a:ext cx="8332589" cy="333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787878"/>
                </a:solidFill>
                <a:latin typeface="+mj-lt"/>
                <a:ea typeface="Baskervville" pitchFamily="34" charset="-122"/>
                <a:cs typeface="Baskervville" pitchFamily="34" charset="-120"/>
              </a:rPr>
              <a:t>7</a:t>
            </a:r>
            <a:r>
              <a:rPr lang="en-US" sz="21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-Zip Forensics Demo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16805" y="921320"/>
            <a:ext cx="8738295" cy="97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line-by-line walkthrough of a forensic demonstration project — covering </a:t>
            </a:r>
          </a:p>
          <a:p>
            <a:pPr marL="0" indent="0" algn="l">
              <a:lnSpc>
                <a:spcPct val="109000"/>
              </a:lnSpc>
              <a:buNone/>
            </a:pPr>
            <a:endParaRPr lang="en-US" sz="1100" dirty="0">
              <a:solidFill>
                <a:srgbClr val="6E6666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628650" lvl="1" indent="-17145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 creation, </a:t>
            </a:r>
          </a:p>
          <a:p>
            <a:pPr marL="628650" lvl="1" indent="-17145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metadata inspection, </a:t>
            </a:r>
          </a:p>
          <a:p>
            <a:pPr marL="628650" lvl="1" indent="-17145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integrity verification, </a:t>
            </a:r>
          </a:p>
          <a:p>
            <a:pPr marL="628650" lvl="1" indent="-17145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 extraction, </a:t>
            </a:r>
          </a:p>
          <a:p>
            <a:pPr marL="628650" lvl="1" indent="-171450">
              <a:lnSpc>
                <a:spcPct val="109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 search using standard Windows tools.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8438" y="2662858"/>
            <a:ext cx="1424012" cy="431304"/>
          </a:xfrm>
          <a:prstGeom prst="roundRect">
            <a:avLst>
              <a:gd name="adj" fmla="val 79053"/>
            </a:avLst>
          </a:prstGeom>
          <a:solidFill>
            <a:srgbClr val="ECDFE3"/>
          </a:solidFill>
          <a:ln/>
        </p:spPr>
      </p:sp>
      <p:sp>
        <p:nvSpPr>
          <p:cNvPr id="6" name="Text 3"/>
          <p:cNvSpPr/>
          <p:nvPr/>
        </p:nvSpPr>
        <p:spPr>
          <a:xfrm>
            <a:off x="487437" y="2800227"/>
            <a:ext cx="1003399" cy="6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FORENSICS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969181" y="3142074"/>
            <a:ext cx="1510619" cy="343059"/>
          </a:xfrm>
          <a:prstGeom prst="roundRect">
            <a:avLst>
              <a:gd name="adj" fmla="val 79053"/>
            </a:avLst>
          </a:prstGeom>
          <a:noFill/>
          <a:ln w="4763">
            <a:solidFill>
              <a:srgbClr val="C7A2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58764" y="3245365"/>
            <a:ext cx="1025128" cy="6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CHAIN OF CUSTODY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56446" y="3643052"/>
            <a:ext cx="1599754" cy="311671"/>
          </a:xfrm>
          <a:prstGeom prst="roundRect">
            <a:avLst>
              <a:gd name="adj" fmla="val 79053"/>
            </a:avLst>
          </a:prstGeom>
          <a:solidFill>
            <a:schemeClr val="accent4">
              <a:lumMod val="20000"/>
              <a:lumOff val="80000"/>
            </a:schemeClr>
          </a:solidFill>
          <a:ln w="4763">
            <a:solidFill>
              <a:srgbClr val="C7A2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1962" y="3730650"/>
            <a:ext cx="1083990" cy="6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FORENSICS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370359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Project Structure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405705" y="1122908"/>
            <a:ext cx="873829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directories, each handling one phase of the forensic workflow.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05" y="1438721"/>
            <a:ext cx="231800" cy="2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5705" y="1815405"/>
            <a:ext cx="40938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demo_compress/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5705" y="2145209"/>
            <a:ext cx="40938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Packs files into a 7z archive with optional header encryption.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4405" y="1438721"/>
            <a:ext cx="231800" cy="2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4405" y="1815405"/>
            <a:ext cx="4093890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demo_list/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644405" y="2145209"/>
            <a:ext cx="4093890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7z l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inspect archive contents and metadata.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705" y="2567211"/>
            <a:ext cx="231800" cy="2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5705" y="2943895"/>
            <a:ext cx="40938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demo_hash/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05705" y="3273698"/>
            <a:ext cx="4093815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Computes SHA-256 digests via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CertUtil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chain of custody.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4405" y="2567211"/>
            <a:ext cx="231800" cy="231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4405" y="2943895"/>
            <a:ext cx="4093890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demo_extract/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644405" y="3273698"/>
            <a:ext cx="4093890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Extracts archives to a controlled directory without modifying the original.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5705" y="3876377"/>
            <a:ext cx="231800" cy="231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05705" y="4253061"/>
            <a:ext cx="40938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demo_search/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05705" y="4582864"/>
            <a:ext cx="4093815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Searches archives for filenames or keywords using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findstr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4405" y="3876377"/>
            <a:ext cx="231800" cy="2318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4405" y="4253061"/>
            <a:ext cx="4093890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run_all_demos.bat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4644405" y="4582864"/>
            <a:ext cx="4093890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Orchestrates the full demo sequence in order.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356890"/>
            <a:ext cx="8332589" cy="488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Demo Control Flow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05705" y="1048866"/>
            <a:ext cx="873829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sequential steps mirror a real forensic workflow — from evidence packaging through integrity verification and targeted search.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05" y="1331937"/>
            <a:ext cx="543371" cy="6909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0950" y="1440582"/>
            <a:ext cx="768734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Compress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50950" y="1745754"/>
            <a:ext cx="768734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Package files into a 7z archive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05" y="2022872"/>
            <a:ext cx="543371" cy="6909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0950" y="2131516"/>
            <a:ext cx="768734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List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50950" y="2436688"/>
            <a:ext cx="768734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 metadata without extracting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05" y="2713806"/>
            <a:ext cx="543371" cy="6909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0950" y="2822451"/>
            <a:ext cx="768734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Hash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50950" y="3127623"/>
            <a:ext cx="768734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SHA-256 for chain of custody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705" y="3404741"/>
            <a:ext cx="543371" cy="6909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0950" y="3513386"/>
            <a:ext cx="768734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Extract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050950" y="3818558"/>
            <a:ext cx="768734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 files to a controlled folder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705" y="4095676"/>
            <a:ext cx="543371" cy="6909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0950" y="4204320"/>
            <a:ext cx="768734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Search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050950" y="4509492"/>
            <a:ext cx="768734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Locate items of interest by pattern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05" y="797123"/>
            <a:ext cx="5317182" cy="35491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0424" y="460772"/>
            <a:ext cx="399306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</p:sp>
      <p:sp>
        <p:nvSpPr>
          <p:cNvPr id="4" name="Text 1"/>
          <p:cNvSpPr/>
          <p:nvPr/>
        </p:nvSpPr>
        <p:spPr>
          <a:xfrm>
            <a:off x="6079927" y="495523"/>
            <a:ext cx="717500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1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010424" y="683196"/>
            <a:ext cx="2732559" cy="1562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Compress: Creating the Archive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010424" y="2361307"/>
            <a:ext cx="2732559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compress.bat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packs files from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sample_files/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into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sample.7z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010424" y="2872085"/>
            <a:ext cx="2732559" cy="788045"/>
          </a:xfrm>
          <a:prstGeom prst="roundRect">
            <a:avLst>
              <a:gd name="adj" fmla="val 2206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004694" y="2872085"/>
            <a:ext cx="2744019" cy="788045"/>
          </a:xfrm>
          <a:prstGeom prst="roundRect">
            <a:avLst>
              <a:gd name="adj" fmla="val 220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149578" y="2987948"/>
            <a:ext cx="2454250" cy="55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not defined 7ZIP set "7ZIP=7z"</a:t>
            </a:r>
            <a:endParaRPr lang="en-US" sz="9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"%7ZIP%" a -t7z "%OUT%" "%SRC_DIR%\*" -mhe=on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10424" y="3790504"/>
            <a:ext cx="2732559" cy="982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-mhe=on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encrypts the archive directory — filenames and timestamps stay hidden without the password.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7ZIP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variable lets you override the path to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7z.exe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7858" t="17697" r="7996"/>
          <a:stretch>
            <a:fillRect/>
          </a:stretch>
        </p:blipFill>
        <p:spPr>
          <a:xfrm>
            <a:off x="5270500" y="962100"/>
            <a:ext cx="3467794" cy="27573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8705" y="452635"/>
            <a:ext cx="8332589" cy="301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List: Inspecting Archive Metadata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78705" y="1035520"/>
            <a:ext cx="8738295" cy="8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list_contents.bat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runs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7z l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display archive contents — </a:t>
            </a:r>
            <a:r>
              <a:rPr lang="en-US" sz="8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without extracting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any files.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8706" y="1346720"/>
            <a:ext cx="4166294" cy="855959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9" name="Text 6"/>
          <p:cNvSpPr/>
          <p:nvPr/>
        </p:nvSpPr>
        <p:spPr>
          <a:xfrm>
            <a:off x="345678" y="1413694"/>
            <a:ext cx="403234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Unencrypted</a:t>
            </a:r>
            <a:r>
              <a:rPr lang="en-US" sz="9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Header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5678" y="1734072"/>
            <a:ext cx="4032349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Filenames, sizes, and timestamps are fully visible.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Useful for triage and initial case assessment.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8231" y="2826272"/>
            <a:ext cx="4156769" cy="774178"/>
          </a:xfrm>
          <a:prstGeom prst="rect">
            <a:avLst/>
          </a:prstGeom>
          <a:solidFill>
            <a:srgbClr val="ECDFE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Shape 9"/>
          <p:cNvSpPr/>
          <p:nvPr/>
        </p:nvSpPr>
        <p:spPr>
          <a:xfrm>
            <a:off x="4445000" y="1346721"/>
            <a:ext cx="9525" cy="401762"/>
          </a:xfrm>
          <a:prstGeom prst="roundRect">
            <a:avLst>
              <a:gd name="adj" fmla="val 1055466"/>
            </a:avLst>
          </a:prstGeom>
          <a:solidFill>
            <a:srgbClr val="D2C5C9"/>
          </a:solidFill>
          <a:ln/>
        </p:spPr>
      </p:sp>
      <p:sp>
        <p:nvSpPr>
          <p:cNvPr id="13" name="Text 10"/>
          <p:cNvSpPr/>
          <p:nvPr/>
        </p:nvSpPr>
        <p:spPr>
          <a:xfrm>
            <a:off x="345675" y="2876154"/>
            <a:ext cx="4032349" cy="155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Encrypted Header (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-mhe=on</a:t>
            </a:r>
            <a:r>
              <a:rPr lang="en-US" sz="12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5674" y="3153978"/>
            <a:ext cx="4032349" cy="8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7z l</a:t>
            </a: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cannot reveal any file information without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password — metadata is fully concealed.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5705" y="902494"/>
            <a:ext cx="2738289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Hash: Integrity Verification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405705" y="2020342"/>
            <a:ext cx="2738289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hash.bat</a:t>
            </a: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uses </a:t>
            </a: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CertUtil -hashfile SHA256</a:t>
            </a: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 built-in Windows tool requiring no additional software.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05705" y="2496294"/>
            <a:ext cx="2738289" cy="401389"/>
          </a:xfrm>
          <a:prstGeom prst="roundRect">
            <a:avLst>
              <a:gd name="adj" fmla="val 41970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00124" y="2496294"/>
            <a:ext cx="2749451" cy="401389"/>
          </a:xfrm>
          <a:prstGeom prst="roundRect">
            <a:avLst>
              <a:gd name="adj" fmla="val 419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40469" y="2608585"/>
            <a:ext cx="2925961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CertUtil -hashfile "%FILE%" SHA256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5705" y="3020020"/>
            <a:ext cx="2738289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the digest in your evidence log at collection time. Re-hash after any transfer to verify no tampering occurred.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5705" y="3672780"/>
            <a:ext cx="2738289" cy="782241"/>
          </a:xfrm>
          <a:prstGeom prst="roundRect">
            <a:avLst>
              <a:gd name="adj" fmla="val 21536"/>
            </a:avLst>
          </a:prstGeom>
          <a:solidFill>
            <a:srgbClr val="ECDFE3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96" y="3843412"/>
            <a:ext cx="140345" cy="11229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0632" y="3798689"/>
            <a:ext cx="2261071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Why SHA-256?</a:t>
            </a: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Collision-resistant and court-accepted for chain-of-custody documentation.</a:t>
            </a:r>
            <a:endParaRPr lang="en-US" sz="8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749" y="801439"/>
            <a:ext cx="5320233" cy="35405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208" y="1349499"/>
            <a:ext cx="746150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05705" y="1537171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Extract: Safe Recovery of Evidence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405705" y="2231752"/>
            <a:ext cx="8738295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extract.bat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uses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7z x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recover files into a clean, dedicated directory.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05" y="2552328"/>
            <a:ext cx="2700263" cy="14067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3006" y="2682478"/>
            <a:ext cx="2382813" cy="269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</a:t>
            </a:r>
            <a:r>
              <a:rPr lang="en-US" sz="16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 Switch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3006" y="3021806"/>
            <a:ext cx="2382813" cy="56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Directs output to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demo_extract\extracted\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isolating recovered files from the original archive.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1831" y="2552328"/>
            <a:ext cx="2700263" cy="14067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09131" y="2682478"/>
            <a:ext cx="2382813" cy="520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Never Modify the Original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09131" y="3272582"/>
            <a:ext cx="2382813" cy="55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source archive remains untouched. Always work from a copy in a forensic context.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7957" y="2552328"/>
            <a:ext cx="2700263" cy="14067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25257" y="2682478"/>
            <a:ext cx="2382813" cy="520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Post-Extraction Verification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225257" y="3272582"/>
            <a:ext cx="2382813" cy="55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Re-hash extracted files and compare against the original digest to confirm integrity.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5705" y="663476"/>
            <a:ext cx="2735461" cy="1537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Search: Finding Items of Interest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05705" y="2313459"/>
            <a:ext cx="2735461" cy="55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search_by_name.bat</a:t>
            </a: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iterates through </a:t>
            </a: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.7z</a:t>
            </a: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files and pipes </a:t>
            </a: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7z l</a:t>
            </a: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output into </a:t>
            </a: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findstr /I</a:t>
            </a: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case-insensitive matching.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05705" y="2992934"/>
            <a:ext cx="2735461" cy="409352"/>
          </a:xfrm>
          <a:prstGeom prst="roundRect">
            <a:avLst>
              <a:gd name="adj" fmla="val 4181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2992934"/>
            <a:ext cx="2746772" cy="409352"/>
          </a:xfrm>
          <a:prstGeom prst="roundRect">
            <a:avLst>
              <a:gd name="adj" fmla="val 418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42627" y="3107010"/>
            <a:ext cx="291881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search_by_name.bat secret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5705" y="3528640"/>
            <a:ext cx="2735461" cy="1169863"/>
          </a:xfrm>
          <a:prstGeom prst="roundRect">
            <a:avLst>
              <a:gd name="adj" fmla="val 14632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82" y="3699942"/>
            <a:ext cx="142577" cy="11407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6436" y="3658195"/>
            <a:ext cx="2250653" cy="910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Encrypted headers block this search.</a:t>
            </a: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If </a:t>
            </a: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-mhe=on</a:t>
            </a: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was used, filenames are hidden — an intentional demo illustrating the trade-off between security and discoverability.</a:t>
            </a:r>
            <a:endParaRPr lang="en-US" sz="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237" y="798016"/>
            <a:ext cx="5318745" cy="35475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419770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Demo Checklist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405705" y="1172319"/>
            <a:ext cx="873829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Walk through these steps live for your professor.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5705" y="1488132"/>
            <a:ext cx="231800" cy="144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5705" y="1670819"/>
            <a:ext cx="2700263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6" name="Text 4"/>
          <p:cNvSpPr/>
          <p:nvPr/>
        </p:nvSpPr>
        <p:spPr>
          <a:xfrm>
            <a:off x="405705" y="1757288"/>
            <a:ext cx="2700263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Show Sample Files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5705" y="2087091"/>
            <a:ext cx="2700263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sample1.txt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sample2.txt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demo_compress/sample_files/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21831" y="1488132"/>
            <a:ext cx="231800" cy="144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21831" y="1670819"/>
            <a:ext cx="2700263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0" name="Text 8"/>
          <p:cNvSpPr/>
          <p:nvPr/>
        </p:nvSpPr>
        <p:spPr>
          <a:xfrm>
            <a:off x="3221831" y="1757288"/>
            <a:ext cx="2700263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Run compress.bat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21831" y="2087091"/>
            <a:ext cx="2700263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sample.7z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created.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7957" y="1488132"/>
            <a:ext cx="231800" cy="144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7957" y="1670819"/>
            <a:ext cx="2700263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7957" y="1757288"/>
            <a:ext cx="2700263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Run list_contents.bat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7957" y="2087091"/>
            <a:ext cx="2700263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 internal file metadata.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5705" y="2670274"/>
            <a:ext cx="231800" cy="144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5705" y="2852961"/>
            <a:ext cx="2700263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8" name="Text 16"/>
          <p:cNvSpPr/>
          <p:nvPr/>
        </p:nvSpPr>
        <p:spPr>
          <a:xfrm>
            <a:off x="405705" y="2939430"/>
            <a:ext cx="2700263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Run hash.bat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5705" y="3269233"/>
            <a:ext cx="2700263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the SHA-256 value in your evidence log.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21831" y="2670274"/>
            <a:ext cx="231800" cy="144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21831" y="2852961"/>
            <a:ext cx="2700263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2" name="Text 20"/>
          <p:cNvSpPr/>
          <p:nvPr/>
        </p:nvSpPr>
        <p:spPr>
          <a:xfrm>
            <a:off x="3221831" y="2939430"/>
            <a:ext cx="2700263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Run extract.bat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21831" y="3269233"/>
            <a:ext cx="2700263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 recovered files in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demo_extract\extracted\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7957" y="2670274"/>
            <a:ext cx="231800" cy="144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7957" y="2852961"/>
            <a:ext cx="2700263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6" name="Text 24"/>
          <p:cNvSpPr/>
          <p:nvPr/>
        </p:nvSpPr>
        <p:spPr>
          <a:xfrm>
            <a:off x="6037957" y="2939430"/>
            <a:ext cx="2700263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Re-hash and Verify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7957" y="3269233"/>
            <a:ext cx="2700263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new hashes to confirm integrity.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5705" y="3847654"/>
            <a:ext cx="231800" cy="144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5705" y="4030340"/>
            <a:ext cx="8332515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30" name="Text 28"/>
          <p:cNvSpPr/>
          <p:nvPr/>
        </p:nvSpPr>
        <p:spPr>
          <a:xfrm>
            <a:off x="405705" y="4116809"/>
            <a:ext cx="83325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Run search_by_name.bat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05705" y="4446612"/>
            <a:ext cx="8332515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for </a:t>
            </a: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explain encrypted-header behavior.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37327"/>
            <a:ext cx="4420295" cy="32978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405" y="399827"/>
            <a:ext cx="8332589" cy="317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Common Questions &amp; Key Takeaways</a:t>
            </a:r>
            <a:endParaRPr lang="en-US" sz="1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955" y="1337327"/>
            <a:ext cx="4109145" cy="7445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6150" y="1401549"/>
            <a:ext cx="25504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Why hash before extracting?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428426" y="1625882"/>
            <a:ext cx="3787976" cy="287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prove the archive's integrity at collection time — later comparisons verify no tampering.</a:t>
            </a:r>
            <a:endParaRPr lang="en-US" sz="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954" y="2560755"/>
            <a:ext cx="4109145" cy="7279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198" y="2640899"/>
            <a:ext cx="3812585" cy="260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What does header encryption do?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365198" y="2869565"/>
            <a:ext cx="3812585" cy="29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encrypts the archive directory — filenames, sizes, and timestamps are hidden without the password.</a:t>
            </a:r>
            <a:endParaRPr lang="en-US" sz="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955" y="3746537"/>
            <a:ext cx="4109144" cy="8588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5198" y="3839381"/>
            <a:ext cx="25504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Can we search encrypted archives?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365198" y="4119996"/>
            <a:ext cx="3724202" cy="181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by filename via </a:t>
            </a: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7z l</a:t>
            </a: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if the header is encrypted. You need the password or alternative techniques.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9A5D65-F7E5-324C-6171-8ACB1A0C6463}"/>
              </a:ext>
            </a:extLst>
          </p:cNvPr>
          <p:cNvSpPr/>
          <p:nvPr/>
        </p:nvSpPr>
        <p:spPr>
          <a:xfrm>
            <a:off x="376133" y="1454150"/>
            <a:ext cx="2457450" cy="20129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FE020-B878-9F29-D11B-BD1D43A7CAFD}"/>
              </a:ext>
            </a:extLst>
          </p:cNvPr>
          <p:cNvSpPr txBox="1"/>
          <p:nvPr/>
        </p:nvSpPr>
        <p:spPr>
          <a:xfrm>
            <a:off x="2605262" y="416684"/>
            <a:ext cx="4572000" cy="650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787878"/>
                </a:solidFill>
                <a:latin typeface="Baskervville" pitchFamily="34" charset="0"/>
              </a:rPr>
              <a:t>Privacy vs. Triage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85CA4-3EAD-84AD-AFCD-83310096F169}"/>
              </a:ext>
            </a:extLst>
          </p:cNvPr>
          <p:cNvSpPr txBox="1"/>
          <p:nvPr/>
        </p:nvSpPr>
        <p:spPr>
          <a:xfrm>
            <a:off x="492124" y="2038167"/>
            <a:ext cx="2381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87878"/>
                </a:solidFill>
                <a:latin typeface="+mj-lt"/>
              </a:rPr>
              <a:t>Header encryption (-</a:t>
            </a:r>
            <a:r>
              <a:rPr lang="en-US" sz="1200" dirty="0" err="1">
                <a:solidFill>
                  <a:srgbClr val="787878"/>
                </a:solidFill>
                <a:latin typeface="+mj-lt"/>
              </a:rPr>
              <a:t>mhe</a:t>
            </a:r>
            <a:r>
              <a:rPr lang="en-US" sz="1200" dirty="0">
                <a:solidFill>
                  <a:srgbClr val="787878"/>
                </a:solidFill>
                <a:latin typeface="+mj-lt"/>
              </a:rPr>
              <a:t>=on) strictly blocks rapid metadata searches. Investigators must computationally or legally decrypt the container before standard triage workflows can even begin</a:t>
            </a:r>
            <a:endParaRPr lang="en-IN" sz="1200" dirty="0">
              <a:latin typeface="+mj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772096-C893-3F00-7C67-492BCA90A1E1}"/>
              </a:ext>
            </a:extLst>
          </p:cNvPr>
          <p:cNvSpPr/>
          <p:nvPr/>
        </p:nvSpPr>
        <p:spPr>
          <a:xfrm>
            <a:off x="3336924" y="1454150"/>
            <a:ext cx="2457450" cy="20129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D66EB2-ABE2-ACB7-0B09-664133E47FE7}"/>
              </a:ext>
            </a:extLst>
          </p:cNvPr>
          <p:cNvSpPr/>
          <p:nvPr/>
        </p:nvSpPr>
        <p:spPr>
          <a:xfrm>
            <a:off x="6270625" y="1454150"/>
            <a:ext cx="2457450" cy="20129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F2566-E998-3612-118F-B1228181A6C1}"/>
              </a:ext>
            </a:extLst>
          </p:cNvPr>
          <p:cNvSpPr txBox="1"/>
          <p:nvPr/>
        </p:nvSpPr>
        <p:spPr>
          <a:xfrm>
            <a:off x="3468583" y="1960613"/>
            <a:ext cx="2365167" cy="1429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787878"/>
                </a:solidFill>
                <a:latin typeface="+mj-lt"/>
              </a:rPr>
              <a:t>Computing cryptographic hashes (SHA-256) immediately upon collection ensures the archive remains legally admissible and mathematically verifiable throughout the entire forensic process.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ADB55E-0902-3096-5FF2-DFFE37DEC150}"/>
              </a:ext>
            </a:extLst>
          </p:cNvPr>
          <p:cNvSpPr txBox="1"/>
          <p:nvPr/>
        </p:nvSpPr>
        <p:spPr>
          <a:xfrm>
            <a:off x="6430356" y="2038167"/>
            <a:ext cx="2257290" cy="123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787878"/>
                </a:solidFill>
                <a:latin typeface="+mj-lt"/>
              </a:rPr>
              <a:t>Extracting evidence strictly to an air-gapped or dedicated sub-directory prevents cross-contamination, ensuring the original artifact state is preserved without accidental modification.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4404EA-7085-C950-2127-A9DD511C5513}"/>
              </a:ext>
            </a:extLst>
          </p:cNvPr>
          <p:cNvSpPr txBox="1"/>
          <p:nvPr/>
        </p:nvSpPr>
        <p:spPr>
          <a:xfrm>
            <a:off x="547583" y="1585482"/>
            <a:ext cx="4572000" cy="659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800" dirty="0">
                <a:solidFill>
                  <a:srgbClr val="787878"/>
                </a:solidFill>
                <a:latin typeface="Baskervville" pitchFamily="34" charset="0"/>
              </a:rPr>
              <a:t>Privacy vs. Triage</a:t>
            </a:r>
          </a:p>
          <a:p>
            <a:pPr>
              <a:lnSpc>
                <a:spcPct val="104000"/>
              </a:lnSpc>
            </a:pPr>
            <a:endParaRPr lang="en-US" sz="1800" dirty="0">
              <a:solidFill>
                <a:srgbClr val="787878"/>
              </a:solidFill>
              <a:latin typeface="Baskervville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4AE065-2846-68E7-64AC-8157830D24B8}"/>
              </a:ext>
            </a:extLst>
          </p:cNvPr>
          <p:cNvSpPr txBox="1"/>
          <p:nvPr/>
        </p:nvSpPr>
        <p:spPr>
          <a:xfrm>
            <a:off x="3567965" y="1578231"/>
            <a:ext cx="4572000" cy="659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800" dirty="0">
                <a:solidFill>
                  <a:srgbClr val="787878"/>
                </a:solidFill>
                <a:latin typeface="Baskervville" pitchFamily="34" charset="0"/>
              </a:rPr>
              <a:t>Chain of Custody</a:t>
            </a:r>
          </a:p>
          <a:p>
            <a:pPr>
              <a:lnSpc>
                <a:spcPct val="104000"/>
              </a:lnSpc>
            </a:pPr>
            <a:endParaRPr lang="en-US" sz="1800" dirty="0">
              <a:solidFill>
                <a:srgbClr val="787878"/>
              </a:solidFill>
              <a:latin typeface="Baskervville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77DB91-A2B6-9540-C703-10FA390471EF}"/>
              </a:ext>
            </a:extLst>
          </p:cNvPr>
          <p:cNvSpPr txBox="1"/>
          <p:nvPr/>
        </p:nvSpPr>
        <p:spPr>
          <a:xfrm>
            <a:off x="6518275" y="1574797"/>
            <a:ext cx="4572000" cy="37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800" dirty="0">
                <a:solidFill>
                  <a:srgbClr val="787878"/>
                </a:solidFill>
                <a:latin typeface="Baskervville" pitchFamily="34" charset="0"/>
              </a:rPr>
              <a:t>Safe Extraction</a:t>
            </a:r>
          </a:p>
        </p:txBody>
      </p:sp>
    </p:spTree>
    <p:extLst>
      <p:ext uri="{BB962C8B-B14F-4D97-AF65-F5344CB8AC3E}">
        <p14:creationId xmlns:p14="http://schemas.microsoft.com/office/powerpoint/2010/main" val="3198737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834</Words>
  <Application>Microsoft Office PowerPoint</Application>
  <PresentationFormat>On-screen Show (16:9)</PresentationFormat>
  <Paragraphs>116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Consolas</vt:lpstr>
      <vt:lpstr>Poppins Bold</vt:lpstr>
      <vt:lpstr>Poppins</vt:lpstr>
      <vt:lpstr>Arial</vt:lpstr>
      <vt:lpstr>Baskervville</vt:lpstr>
      <vt:lpstr>Baskervville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Ankit Mishra</cp:lastModifiedBy>
  <cp:revision>3</cp:revision>
  <dcterms:created xsi:type="dcterms:W3CDTF">2026-07-09T20:16:44Z</dcterms:created>
  <dcterms:modified xsi:type="dcterms:W3CDTF">2026-07-09T20:50:31Z</dcterms:modified>
</cp:coreProperties>
</file>